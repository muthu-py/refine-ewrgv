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Roboto Mono" panose="020F0502020204030204" pitchFamily="49" charset="0"/>
      <p:regular r:id="rId17"/>
      <p:bold r:id="rId18"/>
      <p:italic r:id="rId19"/>
      <p:boldItalic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37B5E0-0747-4880-8EAE-AFB15BF6D0E7}">
  <a:tblStyle styleId="{F837B5E0-0747-4880-8EAE-AFB15BF6D0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ff778a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5ff778a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5ff778a8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5ff778a8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ff778a8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5ff778a8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ff778a8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ff778a8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60989a866da7ecd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60989a866da7ecd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560989a866da7ec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560989a866da7ec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560989a866da7ecd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560989a866da7ecd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60989a866da7ecd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560989a866da7ecd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560989a866da7ecd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560989a866da7ecd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60989a866da7ecd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560989a866da7ecd_1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60989a866da7ecd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60989a866da7ecd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560989a866da7ecd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560989a866da7ecd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ff778a8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ff778a8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3889375" y="46039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13855"/>
            <a:ext cx="12192000" cy="1447800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" name="Google Shape;53;p13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" name="Google Shape;54;p13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" name="Google Shape;56;p13" descr="Image result for twitter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7800" y="1815850"/>
            <a:ext cx="11502300" cy="21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1155CC"/>
                </a:solidFill>
                <a:latin typeface="Verdana"/>
                <a:ea typeface="Verdana"/>
                <a:cs typeface="Verdana"/>
                <a:sym typeface="Verdana"/>
              </a:rPr>
              <a:t>REFINE-Evidence Weighted Research Gap Validation</a:t>
            </a:r>
            <a:endParaRPr sz="3000" b="1">
              <a:solidFill>
                <a:srgbClr val="1155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1155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integrated framework for identifying candidate research gaps and evaluating them against scientific evidence. 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77800" y="4618850"/>
            <a:ext cx="42924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Students Name</a:t>
            </a:r>
            <a:endParaRPr sz="20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Muthuveal V - 3122235002075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Pavithran M - 3122235002086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701400" y="4599075"/>
            <a:ext cx="43932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Guide</a:t>
            </a:r>
            <a:endParaRPr sz="21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>
                <a:solidFill>
                  <a:schemeClr val="dk1"/>
                </a:solidFill>
                <a:highlight>
                  <a:srgbClr val="F5F5F5"/>
                </a:highlight>
                <a:latin typeface="Verdana"/>
                <a:ea typeface="Verdana"/>
                <a:cs typeface="Verdana"/>
                <a:sym typeface="Verdana"/>
              </a:rPr>
              <a:t>Dr. Sudha P​ </a:t>
            </a:r>
            <a:endParaRPr sz="1900">
              <a:solidFill>
                <a:schemeClr val="dk1"/>
              </a:solidFill>
              <a:highlight>
                <a:srgbClr val="F5F5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highlight>
                  <a:srgbClr val="F5F5F5"/>
                </a:highlight>
                <a:latin typeface="Verdana"/>
                <a:ea typeface="Verdana"/>
                <a:cs typeface="Verdana"/>
                <a:sym typeface="Verdana"/>
              </a:rPr>
              <a:t>Associate Professor​</a:t>
            </a:r>
            <a:endParaRPr sz="1900">
              <a:solidFill>
                <a:schemeClr val="dk1"/>
              </a:solidFill>
              <a:highlight>
                <a:srgbClr val="F5F5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Problem Statement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/>
              <a:t>The exponential growth of scientific publications makes it increasingly difficult for researchers to identify and validate research gaps systematically.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/>
              <a:t>Key challenges</a:t>
            </a:r>
            <a:endParaRPr sz="2100"/>
          </a:p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-IN" sz="2100" b="1"/>
              <a:t>Fragmented literature:</a:t>
            </a:r>
            <a:r>
              <a:rPr lang="en-IN" sz="2100"/>
              <a:t> Relevant research is distributed across multiple publications and databases.</a:t>
            </a:r>
            <a:endParaRPr sz="2100"/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-IN" sz="2100" b="1"/>
              <a:t>Limited retrieval:</a:t>
            </a:r>
            <a:r>
              <a:rPr lang="en-IN" sz="2100"/>
              <a:t> Conventional search methods may miss semantically related studies.</a:t>
            </a:r>
            <a:endParaRPr sz="2100"/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-IN" sz="2100" b="1"/>
              <a:t>Disconnected evidence:</a:t>
            </a:r>
            <a:r>
              <a:rPr lang="en-IN" sz="2100"/>
              <a:t> Relationships between research concepts, methodologies, findings, and limitations are difficult to synthesize.</a:t>
            </a:r>
            <a:endParaRPr sz="2100"/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-IN" sz="2100"/>
              <a:t>Unverified gaps: Potential research gaps require evidence-based validation against existing literature.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609600" y="274645"/>
            <a:ext cx="10972800" cy="6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Existing System </a:t>
            </a:r>
            <a:endParaRPr>
              <a:solidFill>
                <a:srgbClr val="1155CC"/>
              </a:solidFill>
            </a:endParaRPr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544425" y="1175975"/>
          <a:ext cx="10695075" cy="5386581"/>
        </p:xfrm>
        <a:graphic>
          <a:graphicData uri="http://schemas.openxmlformats.org/drawingml/2006/table">
            <a:tbl>
              <a:tblPr>
                <a:noFill/>
                <a:tableStyleId>{F837B5E0-0747-4880-8EAE-AFB15BF6D0E7}</a:tableStyleId>
              </a:tblPr>
              <a:tblGrid>
                <a:gridCol w="173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b="1"/>
                        <a:t>Paper</a:t>
                      </a:r>
                      <a:endParaRPr sz="17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1"/>
                        <a:t>Approach </a:t>
                      </a:r>
                      <a:endParaRPr sz="17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1"/>
                        <a:t>Key Focus </a:t>
                      </a:r>
                      <a:endParaRPr sz="17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1"/>
                        <a:t>Limitation </a:t>
                      </a:r>
                      <a:endParaRPr sz="17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ResearchRAG (2026)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RAG + KG + Agents + GNN-based Gap Scoring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Knowledge graph-aided literature analysis and research gap scoring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Sensitive to literature coverage; some gaps may be generic or spurious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HySemRAG (2025)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Hybrid Semantic RAG + KG + Multi-Agent Framework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Large-scale literature synthesis and methodological gap analysis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Depends on open-access/full-text availability; gap validation remains limited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GapSpotter (2025)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Agents + Semantic Clustering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Automatic research gap detection from literature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Gap validation remains challenging; requires further analysis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GapFinder (2025)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AI-based Gap Detection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Identifies potential research gaps from publication trends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Requires human interpretation to confirm gaps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SciRAG (2026)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Adaptive + Citation-aware RAG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Literature synthesis with citation-aware generation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Focuses on synthesis rather than explicit gap identification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CG-RAG (2025)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/>
                        <a:t>Citation Graph + RAG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Uses citation graphs for research question answering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Focuses on research QA; no explicit gap identification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PaperQA (2023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RAG + Scientific QA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Answers questions from research papers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/>
                        <a:t>No explicit gap identification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Proposed Solution 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408875" y="1600200"/>
            <a:ext cx="11352600" cy="73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latin typeface="Arial"/>
                <a:ea typeface="Arial"/>
                <a:cs typeface="Arial"/>
                <a:sym typeface="Arial"/>
              </a:rPr>
              <a:t>Refine is an RAG-based research gap identification and validation system that combines multi-source literature collection, hybrid retrieval, candidate gap identification, and Evidence-Weighted Research Gap Validation (EWRGV).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08875" y="2340000"/>
            <a:ext cx="7234200" cy="3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>
                <a:solidFill>
                  <a:schemeClr val="dk1"/>
                </a:solidFill>
              </a:rPr>
              <a:t>Key Objectives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IN" sz="1700" b="1">
                <a:solidFill>
                  <a:schemeClr val="dk1"/>
                </a:solidFill>
              </a:rPr>
              <a:t>Automated Literature Collection:</a:t>
            </a:r>
            <a:r>
              <a:rPr lang="en-IN" sz="1700">
                <a:solidFill>
                  <a:schemeClr val="dk1"/>
                </a:solidFill>
              </a:rPr>
              <a:t> Retrieve relevant research papers from sources such as OpenAlex and Semantic Scholar.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IN" sz="1700">
                <a:solidFill>
                  <a:schemeClr val="dk1"/>
                </a:solidFill>
              </a:rPr>
              <a:t>Hybrid Literature Retrieval: Combine semantic and keyword-based retrieval to find relevant evidence.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IN" sz="1700">
                <a:solidFill>
                  <a:schemeClr val="dk1"/>
                </a:solidFill>
              </a:rPr>
              <a:t>Candidate Gap Identification: Identify potential research gaps from retrieved literature using structured analysis.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IN" sz="1700">
                <a:solidFill>
                  <a:schemeClr val="dk1"/>
                </a:solidFill>
              </a:rPr>
              <a:t>Evidence-Weighted Validation: Assess candidate gaps against relevant evidence to strengthen their justification.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➢"/>
            </a:pPr>
            <a:r>
              <a:rPr lang="en-IN" sz="1700">
                <a:solidFill>
                  <a:schemeClr val="dk1"/>
                </a:solidFill>
              </a:rPr>
              <a:t>Evidence Traceability: Connect validation outcomes to the retrieved literature supporting or challenging each candidate gap.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9" name="Google Shape;79;p16" title="flow.png"/>
          <p:cNvPicPr preferRelativeResize="0"/>
          <p:nvPr/>
        </p:nvPicPr>
        <p:blipFill rotWithShape="1">
          <a:blip r:embed="rId3">
            <a:alphaModFix/>
          </a:blip>
          <a:srcRect l="17160" r="17694"/>
          <a:stretch/>
        </p:blipFill>
        <p:spPr>
          <a:xfrm>
            <a:off x="7643075" y="2444650"/>
            <a:ext cx="2943700" cy="380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2629700" y="235225"/>
            <a:ext cx="6802800" cy="91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800">
                <a:solidFill>
                  <a:srgbClr val="1155CC"/>
                </a:solidFill>
              </a:rPr>
              <a:t>System Architecture </a:t>
            </a:r>
            <a:endParaRPr sz="3800">
              <a:solidFill>
                <a:srgbClr val="1155CC"/>
              </a:solidFill>
            </a:endParaRPr>
          </a:p>
        </p:txBody>
      </p:sp>
      <p:pic>
        <p:nvPicPr>
          <p:cNvPr id="85" name="Google Shape;85;p17" title="Research System Workflow Infographic.png"/>
          <p:cNvPicPr preferRelativeResize="0"/>
          <p:nvPr/>
        </p:nvPicPr>
        <p:blipFill rotWithShape="1">
          <a:blip r:embed="rId3">
            <a:alphaModFix/>
          </a:blip>
          <a:srcRect t="16093" r="10682"/>
          <a:stretch/>
        </p:blipFill>
        <p:spPr>
          <a:xfrm>
            <a:off x="152400" y="1423150"/>
            <a:ext cx="11705201" cy="453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94175" y="274650"/>
            <a:ext cx="47193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Acquisition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91" name="Google Shape;91;p18" title="pr.png"/>
          <p:cNvPicPr preferRelativeResize="0"/>
          <p:nvPr/>
        </p:nvPicPr>
        <p:blipFill rotWithShape="1">
          <a:blip r:embed="rId3">
            <a:alphaModFix/>
          </a:blip>
          <a:srcRect l="24324" r="24918"/>
          <a:stretch/>
        </p:blipFill>
        <p:spPr>
          <a:xfrm>
            <a:off x="5042550" y="506825"/>
            <a:ext cx="6185100" cy="550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604200" y="1680850"/>
            <a:ext cx="4152000" cy="3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700" b="1">
                <a:solidFill>
                  <a:schemeClr val="dk1"/>
                </a:solidFill>
              </a:rPr>
              <a:t>1. Literature Collection</a:t>
            </a:r>
            <a:endParaRPr sz="27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Expands the research query into relevant search queries.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Collects papers from Semantic Scholar and OpenAlex.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Deduplicates records and acquires available full-text papers.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3931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Retrieval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98" name="Google Shape;98;p19" title="re.png"/>
          <p:cNvPicPr preferRelativeResize="0"/>
          <p:nvPr/>
        </p:nvPicPr>
        <p:blipFill rotWithShape="1">
          <a:blip r:embed="rId3">
            <a:alphaModFix/>
          </a:blip>
          <a:srcRect l="19639" r="21028"/>
          <a:stretch/>
        </p:blipFill>
        <p:spPr>
          <a:xfrm>
            <a:off x="4627350" y="578425"/>
            <a:ext cx="7230251" cy="5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03750" y="1766750"/>
            <a:ext cx="4295100" cy="3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700" b="1">
                <a:solidFill>
                  <a:schemeClr val="dk1"/>
                </a:solidFill>
              </a:rPr>
              <a:t>2. Hybrid Retrieval</a:t>
            </a:r>
            <a:endParaRPr sz="27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Combines dense semantic retrieval with BM25 keyword retrieval.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Uses Reciprocal Rank Fusion (RRF) to combine rankings.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Applies Cross-Encoder reranking to prioritize relevant passages.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9875" y="174450"/>
            <a:ext cx="51489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Gap Identification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05" name="Google Shape;105;p20" title="gi.png"/>
          <p:cNvPicPr preferRelativeResize="0"/>
          <p:nvPr/>
        </p:nvPicPr>
        <p:blipFill rotWithShape="1">
          <a:blip r:embed="rId3">
            <a:alphaModFix/>
          </a:blip>
          <a:srcRect l="3651" r="3204"/>
          <a:stretch/>
        </p:blipFill>
        <p:spPr>
          <a:xfrm>
            <a:off x="4426925" y="1417650"/>
            <a:ext cx="7373424" cy="51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231950" y="1317450"/>
            <a:ext cx="4237800" cy="47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700" b="1">
                <a:solidFill>
                  <a:schemeClr val="dk1"/>
                </a:solidFill>
              </a:rPr>
              <a:t>3. Candidate Gap </a:t>
            </a:r>
            <a:endParaRPr sz="2700" b="1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Constructs a research knowledge graph from the prepared literature.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Identifies candidate gaps using explicit, concept-combination, temporal, and topic-sparsity signals.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</a:rPr>
              <a:t>Fuses and ranks candidates, grounding them in retrieved literature.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954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Validation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12" name="Google Shape;112;p21" title="va.png"/>
          <p:cNvPicPr preferRelativeResize="0"/>
          <p:nvPr/>
        </p:nvPicPr>
        <p:blipFill rotWithShape="1">
          <a:blip r:embed="rId3">
            <a:alphaModFix/>
          </a:blip>
          <a:srcRect l="11233" r="11031"/>
          <a:stretch/>
        </p:blipFill>
        <p:spPr>
          <a:xfrm>
            <a:off x="2876825" y="292075"/>
            <a:ext cx="9429700" cy="57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44400" y="1700628"/>
            <a:ext cx="3006600" cy="4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1">
                <a:solidFill>
                  <a:schemeClr val="dk1"/>
                </a:solidFill>
              </a:rPr>
              <a:t>4. EWRGV</a:t>
            </a:r>
            <a:endParaRPr sz="22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Searches for supporting and contradicting evidence in the internal corpus and external literature.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Aggregates evidence and assesses coverage and confidence.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Classifies candidates as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VALID_GAP</a:t>
            </a:r>
            <a:r>
              <a:rPr lang="en-IN" sz="1600">
                <a:solidFill>
                  <a:schemeClr val="dk1"/>
                </a:solidFill>
              </a:rPr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UNCERTAIN_GAP</a:t>
            </a:r>
            <a:r>
              <a:rPr lang="en-IN" sz="1600">
                <a:solidFill>
                  <a:schemeClr val="dk1"/>
                </a:solidFill>
              </a:rPr>
              <a:t>, or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UNSUPPORTED_GAP</a:t>
            </a:r>
            <a:r>
              <a:rPr lang="en-I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DataSet Description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07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➢"/>
            </a:pPr>
            <a:r>
              <a:rPr lang="en-IN" sz="1800" b="1"/>
              <a:t>Data Sources</a:t>
            </a:r>
            <a:endParaRPr sz="1800" b="1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OpenAlex – Scholarly metadata and open-access information.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Semantic Scholar – Research paper metadata and literature discovery.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➢"/>
            </a:pPr>
            <a:r>
              <a:rPr lang="en-IN" sz="1800" b="1"/>
              <a:t>Dataset Contents</a:t>
            </a:r>
            <a:endParaRPr sz="1800" b="1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Research paper metadata: title, authors, publication year, DOI and source identifiers.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Full-text PDFs and extracted paper sections, where available.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Text chunks and embeddings for semantic retrieval.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Knowledge graph entities, relationships and co-occurrences.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➢"/>
            </a:pPr>
            <a:r>
              <a:rPr lang="en-IN" sz="1800" b="1"/>
              <a:t>Data Preprocessing</a:t>
            </a:r>
            <a:endParaRPr sz="1800" b="1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Duplicate paper identification and removal.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Open-access discovery and full-text acquisition.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PDF parsing, section extraction and text chunking.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-IN" sz="1800"/>
              <a:t>Embedding generation and knowledge graph construction.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Novelty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-170075" y="1735650"/>
            <a:ext cx="10972800" cy="3386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-IN" sz="2100" b="1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Section-Based Multi-Paper Analysis</a:t>
            </a: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b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 Retrieves and analyzes evidence from limitations and future scopes sections from multiple scientific papers. ​</a:t>
            </a:r>
            <a:endParaRPr sz="2100"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  <a:p>
            <a:pPr marL="6858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-IN" sz="2100" b="1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Evidence-Based Gap Validation</a:t>
            </a: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b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 Evaluates whether the identified gap is genuinely unresolved using retrieved evidence. ​</a:t>
            </a:r>
            <a:endParaRPr sz="2100"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  <a:p>
            <a:pPr marL="6858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-IN" sz="2100" b="1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Supporting &amp; Counter-Evidence Analysis</a:t>
            </a: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b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 Considers evidence that supports the gap as well as evidence that may contradict it. ​</a:t>
            </a:r>
            <a:endParaRPr sz="2100"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  <a:p>
            <a:pPr marL="6858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-IN" sz="2100" b="1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Evidence-Chain Explanation</a:t>
            </a: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</a:t>
            </a:r>
            <a:b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IN" sz="21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 Links each identified gap with the papers and evidence used for its assessment.​</a:t>
            </a:r>
            <a:endParaRPr sz="3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Evaluation Metrics</a:t>
            </a:r>
            <a:endParaRPr>
              <a:solidFill>
                <a:srgbClr val="1155CC"/>
              </a:solidFill>
            </a:endParaRPr>
          </a:p>
        </p:txBody>
      </p:sp>
      <p:graphicFrame>
        <p:nvGraphicFramePr>
          <p:cNvPr id="131" name="Google Shape;131;p24"/>
          <p:cNvGraphicFramePr/>
          <p:nvPr/>
        </p:nvGraphicFramePr>
        <p:xfrm>
          <a:off x="609600" y="2286000"/>
          <a:ext cx="10629900" cy="2858303"/>
        </p:xfrm>
        <a:graphic>
          <a:graphicData uri="http://schemas.openxmlformats.org/drawingml/2006/table">
            <a:tbl>
              <a:tblPr>
                <a:noFill/>
                <a:tableStyleId>{F837B5E0-0747-4880-8EAE-AFB15BF6D0E7}</a:tableStyleId>
              </a:tblPr>
              <a:tblGrid>
                <a:gridCol w="329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2900" b="1">
                          <a:solidFill>
                            <a:srgbClr val="F5F5F5"/>
                          </a:solidFill>
                        </a:rPr>
                        <a:t>Evaluation Metric</a:t>
                      </a:r>
                      <a:endParaRPr sz="2900" b="1">
                        <a:solidFill>
                          <a:srgbClr val="F5F5F5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3000" b="1">
                          <a:solidFill>
                            <a:srgbClr val="F5F5F5"/>
                          </a:solidFill>
                        </a:rPr>
                        <a:t>EWRGV</a:t>
                      </a:r>
                      <a:endParaRPr sz="3000" b="1">
                        <a:solidFill>
                          <a:srgbClr val="F5F5F5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solidFill>
                            <a:srgbClr val="F5F5F5"/>
                          </a:solidFill>
                        </a:rPr>
                        <a:t>Existing System — ResearchRAG </a:t>
                      </a:r>
                      <a:endParaRPr sz="2400" b="1">
                        <a:solidFill>
                          <a:srgbClr val="F5F5F5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/>
                        <a:t>Precision@10 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66.6%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83.1%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/>
                        <a:t>Recall@10 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15.1%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70.9%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/>
                        <a:t>MRR 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83.37%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77.4%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/>
                        <a:t>nDCG@10 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58.1%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/>
                        <a:t>74.8%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1155CC"/>
                </a:solidFill>
              </a:rPr>
              <a:t>Future Work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6363000" cy="504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1. Comprehensive Evaluation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Evaluate retrieval and gap validation using labeled benchmarks.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Compare with existing systems such as HySemRAG and ResearchRAG.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2. Improved Literature Coverage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Expand scholarly sources and full-text availability.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Improve extraction of Limitations and Future Work sections.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3. Enhanced Gap Reasoning</a:t>
            </a: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Strengthen multi-paper evidence analysis.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Improve supporting and counter-evidence assessment.</a:t>
            </a:r>
            <a:endParaRPr sz="3000"/>
          </a:p>
        </p:txBody>
      </p:sp>
      <p:sp>
        <p:nvSpPr>
          <p:cNvPr id="138" name="Google Shape;138;p25"/>
          <p:cNvSpPr txBox="1"/>
          <p:nvPr/>
        </p:nvSpPr>
        <p:spPr>
          <a:xfrm>
            <a:off x="7402175" y="1645275"/>
            <a:ext cx="4582500" cy="46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solidFill>
                  <a:schemeClr val="dk1"/>
                </a:solidFill>
              </a:rPr>
              <a:t>4. Pipeline Reliability</a:t>
            </a:r>
            <a:endParaRPr sz="2000" b="1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Automate stage orchestration and improve error recovery.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Strengthen persistent job tracking and end-to-end execution.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 b="1">
                <a:solidFill>
                  <a:schemeClr val="dk1"/>
                </a:solidFill>
              </a:rPr>
              <a:t>5. Scalability and Confidence Calibration</a:t>
            </a:r>
            <a:endParaRPr sz="2000" b="1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Optimize processing time and resource usage.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Calibrate confidence scores using expert-verified outcomes.</a:t>
            </a:r>
            <a:endParaRPr sz="3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681925" y="2560638"/>
            <a:ext cx="10972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3C78D8"/>
                </a:solidFill>
              </a:rPr>
              <a:t>Thank You</a:t>
            </a:r>
            <a:endParaRPr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Microsoft Office PowerPoint</Application>
  <PresentationFormat>Widescreen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Verdana</vt:lpstr>
      <vt:lpstr>Arial</vt:lpstr>
      <vt:lpstr>Roboto Mono</vt:lpstr>
      <vt:lpstr>Theme9</vt:lpstr>
      <vt:lpstr>PowerPoint Presentation</vt:lpstr>
      <vt:lpstr>Problem Statement</vt:lpstr>
      <vt:lpstr>Existing System </vt:lpstr>
      <vt:lpstr>Proposed Solution </vt:lpstr>
      <vt:lpstr>System Architecture </vt:lpstr>
      <vt:lpstr>Acquisition</vt:lpstr>
      <vt:lpstr>Retrieval</vt:lpstr>
      <vt:lpstr>Gap Identification</vt:lpstr>
      <vt:lpstr>Validation</vt:lpstr>
      <vt:lpstr>DataSet Description</vt:lpstr>
      <vt:lpstr>Novelty</vt:lpstr>
      <vt:lpstr>Evaluation Metrics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Muthuveal V</cp:lastModifiedBy>
  <cp:revision>1</cp:revision>
  <dcterms:modified xsi:type="dcterms:W3CDTF">2026-10-21T04:56:14Z</dcterms:modified>
</cp:coreProperties>
</file>